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Shape 2"/>
          <p:cNvSpPr/>
          <p:nvPr/>
        </p:nvSpPr>
        <p:spPr>
          <a:xfrm>
            <a:off x="6903720" y="0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768096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36192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304288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3072384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3840480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4608576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5376672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6144768"/>
            <a:ext cx="5294376" cy="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2672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0576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39528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57432" y="0"/>
            <a:ext cx="0" cy="6858000"/>
          </a:xfrm>
          <a:prstGeom prst="line">
            <a:avLst/>
          </a:prstGeom>
          <a:noFill/>
          <a:ln w="6350">
            <a:solidFill>
              <a:srgbClr val="E8E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658368"/>
            <a:ext cx="3017520" cy="329184"/>
          </a:xfrm>
          <a:prstGeom prst="roundRect">
            <a:avLst>
              <a:gd name="adj" fmla="val 44444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658368"/>
            <a:ext cx="30175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驱动 · 知识图谱 · 智能学习导航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1133856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658368" y="213969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20" kern="0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2651760"/>
            <a:ext cx="603504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28346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以画笔绘就知识网络，以智能导航千里学程。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教师构建知识，学生按图索骥，AI 助教全程相伴——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从文档到图谱，从探索到掌握，一条完整的智能学习链路。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4078224"/>
            <a:ext cx="1280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1879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5836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84832" y="4078224"/>
            <a:ext cx="1280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41879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2084832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角色端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11296" y="4078224"/>
            <a:ext cx="1280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41879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3511296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图谱可视化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37760" y="4078224"/>
            <a:ext cx="12801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1879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4937760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智能助教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076" y="5125212"/>
            <a:ext cx="1911096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9" name="Image 0" descr="d:\项目文件夹\aigc课程\scripts\ppt\_stock\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5175504"/>
            <a:ext cx="1810512" cy="9144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66928" y="614476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课堂学习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491740" y="5125212"/>
            <a:ext cx="1911096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42" name="Image 1" descr="d:\项目文件夹\aigc课程\scripts\ppt\_stock\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42032" y="5175504"/>
            <a:ext cx="1810512" cy="91440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2450592" y="614476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师生研讨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375404" y="5125212"/>
            <a:ext cx="1911096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45" name="Image 2" descr="d:\项目文件夹\aigc课程\scripts\ppt\_stock\3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25696" y="5175504"/>
            <a:ext cx="1810512" cy="91440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4334256" y="614476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团队协作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7086600" y="1078992"/>
            <a:ext cx="4892040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48" name="Image 3" descr="d:\项目文件夹\aigc课程\赛题10_智绘千里_AIGC知识图谱智能导学系统\S3\演示素材\截图\01_首页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216152"/>
            <a:ext cx="4617720" cy="2596896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223760" y="384048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系统首页 · 蓝图 + 手绘视觉风格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7086600" y="4279392"/>
            <a:ext cx="4892040" cy="1773936"/>
          </a:xfrm>
          <a:prstGeom prst="roundRect">
            <a:avLst>
              <a:gd name="adj" fmla="val 3608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306056" y="4443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面向高校课程教学场景</a:t>
            </a:r>
            <a:endParaRPr lang="en-US" sz="1250" dirty="0"/>
          </a:p>
        </p:txBody>
      </p:sp>
      <p:sp>
        <p:nvSpPr>
          <p:cNvPr id="52" name="Text 46"/>
          <p:cNvSpPr/>
          <p:nvPr/>
        </p:nvSpPr>
        <p:spPr>
          <a:xfrm>
            <a:off x="7306056" y="4773168"/>
            <a:ext cx="44805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课程知识体系日益庞大、知识点分散在多章节与多类材料之中。知识图谱作为结构化知识组织方式价值明确，却在教学落地中面临建图成本高、导航缺失、答疑受限、进度难量化等现实阻力。智绘千里以 AIGC 重构建图与学习全流程。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4" name="Text 48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8607247" y="6455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图片素材来源：Unsplash</a:t>
            </a:r>
            <a:endParaRPr lang="en-US" sz="850" dirty="0"/>
          </a:p>
        </p:txBody>
      </p:sp>
      <p:sp>
        <p:nvSpPr>
          <p:cNvPr id="56" name="Text 50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知识图谱的价值已被广泛认可，真正落地却卡在四个环节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83664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0299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5635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029968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42" dirty="0"/>
          </a:p>
        </p:txBody>
      </p:sp>
      <p:sp>
        <p:nvSpPr>
          <p:cNvPr id="12" name="Text 10"/>
          <p:cNvSpPr/>
          <p:nvPr/>
        </p:nvSpPr>
        <p:spPr>
          <a:xfrm>
            <a:off x="1353312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教师建图效率低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18304" y="2066544"/>
            <a:ext cx="2011680" cy="274320"/>
          </a:xfrm>
          <a:prstGeom prst="roundRect">
            <a:avLst>
              <a:gd name="adj" fmla="val 53333"/>
            </a:avLst>
          </a:prstGeom>
          <a:solidFill>
            <a:srgbClr val="FFF4D8"/>
          </a:solidFill>
          <a:ln w="9525">
            <a:solidFill>
              <a:srgbClr val="F0D7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2066544"/>
            <a:ext cx="2011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建图慢 · 维护贵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2450592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手工绘制一张几十节点的课程图谱需数小时甚至数天，且教学内容迭代后维护成本居高不下，图谱难以真正落地。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871216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017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5635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01752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42" dirty="0"/>
          </a:p>
        </p:txBody>
      </p:sp>
      <p:sp>
        <p:nvSpPr>
          <p:cNvPr id="19" name="Text 17"/>
          <p:cNvSpPr/>
          <p:nvPr/>
        </p:nvSpPr>
        <p:spPr>
          <a:xfrm>
            <a:off x="1353312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学生缺乏结构化导航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718304" y="3054096"/>
            <a:ext cx="2011680" cy="274320"/>
          </a:xfrm>
          <a:prstGeom prst="roundRect">
            <a:avLst>
              <a:gd name="adj" fmla="val 53333"/>
            </a:avLst>
          </a:prstGeom>
          <a:solidFill>
            <a:srgbClr val="FFF4D8"/>
          </a:solidFill>
          <a:ln w="9525">
            <a:solidFill>
              <a:srgbClr val="F0D7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054096"/>
            <a:ext cx="2011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无全局 · 难进阶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" y="3438144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按教材章节线性学习，"只见树木不见森林"，难以建立完整的课程知识体系，学习效率与理解深度受限。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858768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00507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56352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005072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42" dirty="0"/>
          </a:p>
        </p:txBody>
      </p:sp>
      <p:sp>
        <p:nvSpPr>
          <p:cNvPr id="26" name="Text 24"/>
          <p:cNvSpPr/>
          <p:nvPr/>
        </p:nvSpPr>
        <p:spPr>
          <a:xfrm>
            <a:off x="1353312" y="39867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课后答疑受时空限制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18304" y="4041648"/>
            <a:ext cx="2011680" cy="274320"/>
          </a:xfrm>
          <a:prstGeom prst="roundRect">
            <a:avLst>
              <a:gd name="adj" fmla="val 53333"/>
            </a:avLst>
          </a:prstGeom>
          <a:solidFill>
            <a:srgbClr val="FFF4D8"/>
          </a:solidFill>
          <a:ln w="9525">
            <a:solidFill>
              <a:srgbClr val="F0D7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4041648"/>
            <a:ext cx="2011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不及时 · 不贴合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9536" y="4425696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传统师生答疑受限于时间与空间，通用大模型的回答缺乏课程针对性，无法与具体课程的知识结构深度结合。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84632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49926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" y="499262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42" dirty="0"/>
          </a:p>
        </p:txBody>
      </p:sp>
      <p:sp>
        <p:nvSpPr>
          <p:cNvPr id="33" name="Text 31"/>
          <p:cNvSpPr/>
          <p:nvPr/>
        </p:nvSpPr>
        <p:spPr>
          <a:xfrm>
            <a:off x="1353312" y="4974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学习进度难追踪量化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718304" y="5029200"/>
            <a:ext cx="2011680" cy="274320"/>
          </a:xfrm>
          <a:prstGeom prst="roundRect">
            <a:avLst>
              <a:gd name="adj" fmla="val 53333"/>
            </a:avLst>
          </a:prstGeom>
          <a:solidFill>
            <a:srgbClr val="FFF4D8"/>
          </a:solidFill>
          <a:ln w="9525">
            <a:solidFill>
              <a:srgbClr val="F0D7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5029200"/>
            <a:ext cx="2011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A4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无量化 · 难诊断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" y="5413248"/>
            <a:ext cx="5815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学生对自身学习状况缺乏量化认知，教师也难以全面掌握每个学生的进度与薄弱环节，指导缺乏依据。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91756" y="1833372"/>
            <a:ext cx="4483303" cy="3758184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8" name="Image 0" descr="d:\项目文件夹\aigc课程\scripts\ppt\_stock\3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2048" y="1883664"/>
            <a:ext cx="4382719" cy="36576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150608" y="5596128"/>
            <a:ext cx="4565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真实场景：碎片化学习与信息过载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66928" y="5870448"/>
            <a:ext cx="11057839" cy="438912"/>
          </a:xfrm>
          <a:prstGeom prst="rect">
            <a:avLst/>
          </a:prstGeom>
          <a:solidFill>
            <a:srgbClr val="E9F1ED"/>
          </a:solidFill>
          <a:ln/>
        </p:spPr>
      </p:sp>
      <p:sp>
        <p:nvSpPr>
          <p:cNvPr id="41" name="Shape 38"/>
          <p:cNvSpPr/>
          <p:nvPr/>
        </p:nvSpPr>
        <p:spPr>
          <a:xfrm>
            <a:off x="566928" y="5870448"/>
            <a:ext cx="82296" cy="438912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2" name="Text 39"/>
          <p:cNvSpPr/>
          <p:nvPr/>
        </p:nvSpPr>
        <p:spPr>
          <a:xfrm>
            <a:off x="859536" y="5870448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四个痛点指向同一件事：缺少一条"从课程材料到结构化知识、再到个性化学习"的自动化链路。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607247" y="6455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图片素材来源：Unsplash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45" name="Text 42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产品亮点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六大亮点，覆盖"建图 — 用图 — 问答 — 检验"全链路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83664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98424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E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1984248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9888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知识抽取与自动建图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66944" y="1956816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1956816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建图效率 ×14.4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89888" y="22128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jieba 中文分词 + 大模型结构化抽取，从课程文档自动生成知识点与关系，支持 AIGC 一键生成图谱草稿。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606040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27066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2706624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89888" y="2660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AntV G6 手绘风格图谱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66944" y="2679192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679192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100+ 节点流畅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89888" y="29352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G6 引擎与 rough 手绘插件渲染图谱，力导向参数精细调优，层次清晰、分布均匀。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328416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" y="34290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ED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3429000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89888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检索增强智能问答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66944" y="3401568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3401568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答案可溯源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89888" y="3657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先检索课程知识库再注入上下文生成回答，回答标注引用知识点，答案可溯源、可定位。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4050792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" y="4151376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4151376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8988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先修拓扑的学习路径推荐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66944" y="4123944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4123944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个性化动态重排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89888" y="43799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以"先修"关系构建 DAG 并拓扑排序，结合掌握度、重点程度与测验表现实时重排推荐。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4773168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" y="487375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ED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" y="4873752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89888" y="4828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Three.js 3D 校园导览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266944" y="4846320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4846320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差异化体验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389888" y="51023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将系统功能映射为校园建筑（教学楼=图谱、图书馆=资源、实验楼=AIGC），沉浸式功能导览。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5495544"/>
            <a:ext cx="640080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" y="5596128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9F1F8"/>
          </a:solidFill>
          <a:ln/>
        </p:spPr>
      </p:sp>
      <p:sp>
        <p:nvSpPr>
          <p:cNvPr id="46" name="Text 44"/>
          <p:cNvSpPr/>
          <p:nvPr/>
        </p:nvSpPr>
        <p:spPr>
          <a:xfrm>
            <a:off x="786384" y="5596128"/>
            <a:ext cx="47548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89888" y="5550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双角色权限严格隔离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266944" y="5568696"/>
            <a:ext cx="1517904" cy="256032"/>
          </a:xfrm>
          <a:prstGeom prst="roundRect">
            <a:avLst>
              <a:gd name="adj" fmla="val 5714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66944" y="5568696"/>
            <a:ext cx="151790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6/6 权限测试通过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389888" y="58247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接口级 + 界面级双重控制，教师端与学生端功能、数据与主题相互隔离。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91756" y="1833372"/>
            <a:ext cx="4483303" cy="4123944"/>
          </a:xfrm>
          <a:prstGeom prst="roundRect">
            <a:avLst>
              <a:gd name="adj" fmla="val 11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52" name="Image 0" descr="d:\项目文件夹\aigc课程\scripts\ppt\_stock\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42048" y="1883664"/>
            <a:ext cx="4382719" cy="402336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7150608" y="5961888"/>
            <a:ext cx="4565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数据驱动的产品能力与可视化分析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607247" y="6455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图片素材来源：Unsplash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6" name="Text 53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以图谱为中枢：一端建图、一端用图，AI 全程相伴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4663440" cy="4261104"/>
          </a:xfrm>
          <a:prstGeom prst="roundRect">
            <a:avLst>
              <a:gd name="adj" fmla="val 1073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10" name="Image 0" descr="d:/项目文件夹/aigc课程/功能路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11680"/>
            <a:ext cx="4261104" cy="3931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5888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产品功能路径图 · 学生端 / 教师端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41264" y="1847088"/>
            <a:ext cx="6083503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41264" y="1847088"/>
            <a:ext cx="82296" cy="1298448"/>
          </a:xfrm>
          <a:prstGeom prst="rect">
            <a:avLst/>
          </a:prstGeom>
          <a:solidFill>
            <a:srgbClr val="2D3847"/>
          </a:solidFill>
          <a:ln/>
        </p:spPr>
      </p:sp>
      <p:sp>
        <p:nvSpPr>
          <p:cNvPr id="14" name="Shape 11"/>
          <p:cNvSpPr/>
          <p:nvPr/>
        </p:nvSpPr>
        <p:spPr>
          <a:xfrm>
            <a:off x="5692140" y="1988820"/>
            <a:ext cx="1014984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15" name="Image 1" descr="d:\项目文件夹\aigc课程\scripts\ppt\_stock\2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42432" y="2039112"/>
            <a:ext cx="914400" cy="914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803136" y="20299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384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03136" y="2029968"/>
            <a:ext cx="10058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384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注册前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803136" y="2395728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游客可浏览系统首页与访客中心，通过 3D 校园模型直观了解平台功能与课程概览，并引导注册使用。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41264" y="3310128"/>
            <a:ext cx="6083503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41264" y="3310128"/>
            <a:ext cx="82296" cy="1298448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21" name="Shape 17"/>
          <p:cNvSpPr/>
          <p:nvPr/>
        </p:nvSpPr>
        <p:spPr>
          <a:xfrm>
            <a:off x="5692140" y="3451860"/>
            <a:ext cx="1014984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22" name="Image 2" descr="d:\项目文件夹\aigc课程\scripts\ppt\_stock\1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42432" y="3502152"/>
            <a:ext cx="914400" cy="9144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03136" y="34930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5635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03136" y="3493008"/>
            <a:ext cx="10058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教师端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803136" y="3858768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文档上传与解析 → AIGC 一键生成图谱草稿 → 图谱编辑器校对维护 → 多课程与课程资料管理，把建图从小时级压缩到分钟级。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541264" y="4773168"/>
            <a:ext cx="6083503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541264" y="4773168"/>
            <a:ext cx="82296" cy="1298448"/>
          </a:xfrm>
          <a:prstGeom prst="rect">
            <a:avLst/>
          </a:prstGeom>
          <a:solidFill>
            <a:srgbClr val="2E6BA8"/>
          </a:solidFill>
          <a:ln/>
        </p:spPr>
      </p:sp>
      <p:sp>
        <p:nvSpPr>
          <p:cNvPr id="28" name="Shape 23"/>
          <p:cNvSpPr/>
          <p:nvPr/>
        </p:nvSpPr>
        <p:spPr>
          <a:xfrm>
            <a:off x="5692140" y="4914900"/>
            <a:ext cx="1014984" cy="1014984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29" name="Image 3" descr="d:\项目文件夹\aigc课程\scripts\ppt\_stock\1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42432" y="4965192"/>
            <a:ext cx="914400" cy="9144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803136" y="495604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E6BA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03136" y="4956048"/>
            <a:ext cx="10058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6B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学生端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803136" y="5321808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可视化图谱探索 → RAG 智能问答 → 先修路径推荐 → 详细学习与多模态资源 → 知识小测验 → 学习报告追踪。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607247" y="6455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图片素材来源：Unsplash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35" name="Text 29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 + AI 能力集成，接口级与界面级权限双重隔离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28800"/>
            <a:ext cx="7918704" cy="914400"/>
          </a:xfrm>
          <a:prstGeom prst="roundRect">
            <a:avLst>
              <a:gd name="adj" fmla="val 7000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828800"/>
            <a:ext cx="82296" cy="9144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568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3042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18 + Vite 5 + TypeScript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21024" y="2084832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1024" y="2084832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AntV G6 图谱可视化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96028" y="2084832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6028" y="2084832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Three.js 3D 校园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71032" y="2084832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084832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Context 状态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46036" y="2084832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46036" y="2084832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手绘风格主题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2871216"/>
            <a:ext cx="791870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2871216"/>
            <a:ext cx="82296" cy="9144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9992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33467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/ JSON · JWT 令牌鉴权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21024" y="3127248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3127248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RESTful 接口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96028" y="3127248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3127248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身份与角色判定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71032" y="3127248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71032" y="3127248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请求统一封装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46036" y="3127248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6036" y="3127248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错误统一处理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13632"/>
            <a:ext cx="7918704" cy="914400"/>
          </a:xfrm>
          <a:prstGeom prst="roundRect">
            <a:avLst>
              <a:gd name="adj" fmla="val 7000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3913632"/>
            <a:ext cx="82296" cy="9144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0416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4389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· 路由 → 业务 → 数据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21024" y="4169664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1024" y="4169664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SQLAlchemy 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6028" y="4169664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6028" y="4169664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15+ 数据表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71032" y="4169664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4169664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Pydantic 参数校验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46036" y="4169664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46036" y="4169664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异步高性能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" y="4956048"/>
            <a:ext cx="7918704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4956048"/>
            <a:ext cx="82296" cy="914400"/>
          </a:xfrm>
          <a:prstGeom prst="rect">
            <a:avLst/>
          </a:prstGeom>
          <a:solidFill>
            <a:srgbClr val="6B5BA8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50840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能力层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22960" y="54315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大语言模型 API · 提示词工程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21024" y="5212080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21024" y="5212080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文档知识抽取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96028" y="5212080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6028" y="5212080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图谱生成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71032" y="5212080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71032" y="5212080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智能问答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46036" y="5212080"/>
            <a:ext cx="1065276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46036" y="5212080"/>
            <a:ext cx="1065276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jieba 中文分词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82812" y="1869948"/>
            <a:ext cx="2800807" cy="1289304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58" name="Image 0" descr="d:\项目文件夹\aigc课程\scripts\ppt\_stock\2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33104" y="1920240"/>
            <a:ext cx="2700223" cy="1188720"/>
          </a:xfrm>
          <a:prstGeom prst="rect">
            <a:avLst/>
          </a:prstGeom>
        </p:spPr>
      </p:pic>
      <p:sp>
        <p:nvSpPr>
          <p:cNvPr id="59" name="Shape 56"/>
          <p:cNvSpPr/>
          <p:nvPr/>
        </p:nvSpPr>
        <p:spPr>
          <a:xfrm>
            <a:off x="8741664" y="3291840"/>
            <a:ext cx="2883103" cy="2706624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96112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权限与安全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961120" y="3712464"/>
            <a:ext cx="457200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2" name="Shape 59"/>
          <p:cNvSpPr/>
          <p:nvPr/>
        </p:nvSpPr>
        <p:spPr>
          <a:xfrm>
            <a:off x="8961120" y="3895344"/>
            <a:ext cx="45720" cy="4572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63" name="Text 60"/>
          <p:cNvSpPr/>
          <p:nvPr/>
        </p:nvSpPr>
        <p:spPr>
          <a:xfrm>
            <a:off x="9144000" y="385876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令牌鉴权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9144000" y="407822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纯标准库实现，零额外依赖；登录签发令牌，请求自动校验身份。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8961120" y="4425696"/>
            <a:ext cx="45720" cy="4572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66" name="Text 63"/>
          <p:cNvSpPr/>
          <p:nvPr/>
        </p:nvSpPr>
        <p:spPr>
          <a:xfrm>
            <a:off x="9144000" y="438912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RBAC 角色隔离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9144000" y="460857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require_teacher / require_student 依赖注入，越权返回 403。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8961120" y="4956048"/>
            <a:ext cx="45720" cy="4572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69" name="Text 66"/>
          <p:cNvSpPr/>
          <p:nvPr/>
        </p:nvSpPr>
        <p:spPr>
          <a:xfrm>
            <a:off x="9144000" y="4919472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接口级 + 界面级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144000" y="513892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前端过滤菜单与路由，后端逐接口声明角色，定义一致。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8961120" y="5486400"/>
            <a:ext cx="45720" cy="45720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72" name="Text 69"/>
          <p:cNvSpPr/>
          <p:nvPr/>
        </p:nvSpPr>
        <p:spPr>
          <a:xfrm>
            <a:off x="9144000" y="544982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双主题视觉区分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144000" y="566928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教师端绿色系、学生端蓝紫色系，强化角色边界。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607247" y="64556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图片素材来源：Unsplash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76" name="Text 73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700784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Visitor Center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01_首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4261104" cy="2396841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264908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7" name="Image 1" descr="d:\项目文件夹\aigc课程\赛题10_智绘千里_AIGC知识图谱智能导学系统\S3\演示素材\截图\11_访客中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25296"/>
            <a:ext cx="4261104" cy="2396841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98064" y="4041648"/>
            <a:ext cx="8826703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798064" y="4187952"/>
            <a:ext cx="45720" cy="67665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6"/>
          <p:cNvSpPr/>
          <p:nvPr/>
        </p:nvSpPr>
        <p:spPr>
          <a:xfrm>
            <a:off x="3035808" y="4169664"/>
            <a:ext cx="83695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系统首页是平台对外的统一门户与功能导览页，承担"系统认知 — 功能概览 — 角色分流"三项作用；页面以蓝图式结构呈现系统整体框架，用手绘标注突出系统简介与产品亮点，并通过不同色彩体系区分教师端与学生端的功能归属。访客中心以 3D 校园模型展示平台整体学习生态，未登录访客可直观感受智能导航体验。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79806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79806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蓝图 + 手绘视觉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03674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3674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一屏功能概览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27542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7542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 / 学生色彩区分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9514103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514103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3D 校园沉浸导览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Text 46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281428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&amp; Role Routing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02_登录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4261104" cy="2396841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264908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7" name="Image 1" descr="d:\项目文件夹\aigc课程\赛题10_智绘千里_AIGC知识图谱智能导学系统\S3\演示素材\截图\03_注册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25296"/>
            <a:ext cx="4261104" cy="2396841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98064" y="4041648"/>
            <a:ext cx="8826703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798064" y="4187952"/>
            <a:ext cx="45720" cy="67665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6"/>
          <p:cNvSpPr/>
          <p:nvPr/>
        </p:nvSpPr>
        <p:spPr>
          <a:xfrm>
            <a:off x="3035808" y="4169664"/>
            <a:ext cx="83695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用户进入系统后，支持以教师或学生身份登录。系统采用 JWT 令牌鉴权，登录成功后由服务端签发令牌，后续请求携带令牌进行身份校验与角色判定，并按角色自动进入对应工作台。注册时需填写用户名、密码并选择身份角色，系统校验用户名唯一性与角色必选后完成账号创建。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79806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79806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令牌鉴权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03674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3674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 / 学生双身份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27542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7542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注册校验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9514103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514103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自动进入对应工作台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Text 46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862072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Desk &amp; Upload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12_教师工作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4261104" cy="2396841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264908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7" name="Image 1" descr="d:\项目文件夹\aigc课程\赛题10_智绘千里_AIGC知识图谱智能导学系统\S3\演示素材\截图\13_文档上传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25296"/>
            <a:ext cx="4261104" cy="2396841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98064" y="4041648"/>
            <a:ext cx="8826703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798064" y="4187952"/>
            <a:ext cx="45720" cy="67665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6"/>
          <p:cNvSpPr/>
          <p:nvPr/>
        </p:nvSpPr>
        <p:spPr>
          <a:xfrm>
            <a:off x="3035808" y="4169664"/>
            <a:ext cx="83695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教师登录后进入教师端工作台，可查看课程建设与图谱生成进度概览，并通过功能卡片快速进入文档上传、AIGC 生成图谱、知识图谱编辑等模块，工作台支持多课程统筹管理。文档上传支持 PDF / Word / PPT 等格式，系统自动解析文档内容、清洗分段，作为后续知识抽取与图谱构建的数据来源，上传过程带进度提示。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79806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79806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课程建设概览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03674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3674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多课程管理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27542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7542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PDF / Word / PPT 解析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9514103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514103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进度提示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Text 46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442716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AIGC &amp; Graph Editing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14_AIGC生成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4261104" cy="2396841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264908" y="1175004"/>
            <a:ext cx="4361688" cy="2497425"/>
          </a:xfrm>
          <a:prstGeom prst="roundRect">
            <a:avLst>
              <a:gd name="adj" fmla="val 1831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7" name="Image 1" descr="d:\项目文件夹\aigc课程\赛题10_智绘千里_AIGC知识图谱智能导学系统\S3\演示素材\截图\15_图谱编辑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25296"/>
            <a:ext cx="4261104" cy="2396841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2798064" y="4041648"/>
            <a:ext cx="8826703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798064" y="4187952"/>
            <a:ext cx="45720" cy="67665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6"/>
          <p:cNvSpPr/>
          <p:nvPr/>
        </p:nvSpPr>
        <p:spPr>
          <a:xfrm>
            <a:off x="3035808" y="4169664"/>
            <a:ext cx="836950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教师可以输入课程主题，由大模型自动生成对应的知识点及其关系，快速构建课程知识图谱草稿，大幅降低人工建图成本。系统提供三种建图方式：加载示例图谱、AIGC 主题生成、文档上传解析。生成后可在图谱编辑页面对节点、关系与属性进行增删改维护，并审核知识抽取产生的低置信度结果，确保图谱内容准确规范。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79806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79806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三种建图方式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03674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3674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 / 关系增删改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7275424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75424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属性维护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9514103" y="5230368"/>
            <a:ext cx="2110664" cy="310896"/>
          </a:xfrm>
          <a:prstGeom prst="roundRect">
            <a:avLst>
              <a:gd name="adj" fmla="val 4705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514103" y="5230368"/>
            <a:ext cx="211066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低置信度复核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0" name="Text 46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023360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Exploration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5605272" cy="319693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05_知识图谱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5504688" cy="309634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503920" y="1225296"/>
            <a:ext cx="3120847" cy="3099816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23376" y="1389888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三类关系 · 一张可探索的知识网络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723376" y="1737360"/>
            <a:ext cx="420624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8723376" y="1901952"/>
            <a:ext cx="731520" cy="274320"/>
          </a:xfrm>
          <a:prstGeom prst="roundRect">
            <a:avLst>
              <a:gd name="adj" fmla="val 5333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23376" y="1901952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564624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实线 · 层级归属，构成知识树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723376" y="2688336"/>
            <a:ext cx="731520" cy="274320"/>
          </a:xfrm>
          <a:prstGeom prst="roundRect">
            <a:avLst>
              <a:gd name="adj" fmla="val 5333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23376" y="268833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先修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564624" y="2688336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虚线 · 学习依赖，决定顺序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8723376" y="3474720"/>
            <a:ext cx="731520" cy="274320"/>
          </a:xfrm>
          <a:prstGeom prst="roundRect">
            <a:avLst>
              <a:gd name="adj" fmla="val 53333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723376" y="3474720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3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564624" y="34747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点线 · 横向联系，拓展理解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723376" y="3675888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手绘渲染：AntV G6 + rough 插件，力导向参数调优，节点分布均匀、层次清晰。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747772" y="4448556"/>
            <a:ext cx="2898648" cy="1674475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50" name="Image 1" descr="d:\项目文件夹\aigc课程\赛题10_智绘千里_AIGC知识图谱智能导学系统\S3\演示素材\截图\05b_节点详情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4498848"/>
            <a:ext cx="2798064" cy="1573891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5815584" y="4498848"/>
            <a:ext cx="5809183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815584" y="4645152"/>
            <a:ext cx="45720" cy="12801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53" name="Text 49"/>
          <p:cNvSpPr/>
          <p:nvPr/>
        </p:nvSpPr>
        <p:spPr>
          <a:xfrm>
            <a:off x="6053328" y="4626864"/>
            <a:ext cx="5351983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学生可拖拽平移、滚轮缩放、搜索定位与邻居发现；点击节点打开详情抽屉，展示知识点介绍、所属关系与学习状态，帮助学生在层级、依赖与关联三个维度上建立完整的课程认知。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5" name="Text 51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604004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28523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Q&amp;A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5605272" cy="3196932"/>
          </a:xfrm>
          <a:prstGeom prst="roundRect">
            <a:avLst>
              <a:gd name="adj" fmla="val 14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06_智能问答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5504688" cy="3096348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503920" y="1225296"/>
            <a:ext cx="3120847" cy="3099816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723376" y="1389888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检索增强生成 · 四步闭环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723376" y="1737360"/>
            <a:ext cx="420624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8723376" y="1938528"/>
            <a:ext cx="41148" cy="384048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7"/>
          <p:cNvSpPr/>
          <p:nvPr/>
        </p:nvSpPr>
        <p:spPr>
          <a:xfrm>
            <a:off x="8887968" y="188366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学生提问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723376" y="2542032"/>
            <a:ext cx="41148" cy="384048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2" name="Text 39"/>
          <p:cNvSpPr/>
          <p:nvPr/>
        </p:nvSpPr>
        <p:spPr>
          <a:xfrm>
            <a:off x="8887968" y="248716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课程知识库检索召回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723376" y="3145536"/>
            <a:ext cx="41148" cy="384048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4" name="Text 41"/>
          <p:cNvSpPr/>
          <p:nvPr/>
        </p:nvSpPr>
        <p:spPr>
          <a:xfrm>
            <a:off x="8887968" y="3090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召回知识点注入上下文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723376" y="3749040"/>
            <a:ext cx="41148" cy="384048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6" name="Text 43"/>
          <p:cNvSpPr/>
          <p:nvPr/>
        </p:nvSpPr>
        <p:spPr>
          <a:xfrm>
            <a:off x="8887968" y="3694176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生成回答并标注引用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723376" y="371246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回答基于课程知识库，保证准确性与可溯源性，实现"问一个问题、懂一片知识"。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798064" y="4498848"/>
            <a:ext cx="8826703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98064" y="4645152"/>
            <a:ext cx="45720" cy="12801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50" name="Text 47"/>
          <p:cNvSpPr/>
          <p:nvPr/>
        </p:nvSpPr>
        <p:spPr>
          <a:xfrm>
            <a:off x="3035808" y="4626864"/>
            <a:ext cx="8369503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系统解析回答中的引用标记并与图谱节点匹配，在前端高亮显示关联节点，学生点击即可跳转到知识点详情，把"提问"与"图谱"打通为一条可追溯的学习路径。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2" name="Text 49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487168" cy="1298448"/>
          </a:xfrm>
          <a:prstGeom prst="rect">
            <a:avLst/>
          </a:prstGeom>
          <a:solidFill>
            <a:srgbClr val="232D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9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产品功能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608" y="822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20" kern="0" dirty="0">
                <a:solidFill>
                  <a:srgbClr val="9F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FUNCTION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" y="180136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70078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首页与访客中心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" y="2382012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142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142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登录注册与角色分流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9456" y="2962656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862072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教师工作台与文档上传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9456" y="3543300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442716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4271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生成与图谱编辑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" y="4123944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023360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0233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知识图谱探索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9456" y="4704588"/>
            <a:ext cx="41148" cy="256032"/>
          </a:xfrm>
          <a:prstGeom prst="rect">
            <a:avLst/>
          </a:prstGeom>
          <a:solidFill>
            <a:srgbClr val="4E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04004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FA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460400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5E2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智能问答（RAG）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9456" y="5184648"/>
            <a:ext cx="2029968" cy="457200"/>
          </a:xfrm>
          <a:prstGeom prst="roundRect">
            <a:avLst>
              <a:gd name="adj" fmla="val 16000"/>
            </a:avLst>
          </a:prstGeom>
          <a:solidFill>
            <a:srgbClr val="FFC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18464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4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8464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6053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0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6309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D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AIGC 知识图谱智能导学系统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98064" y="548640"/>
            <a:ext cx="8826703" cy="512064"/>
          </a:xfrm>
          <a:prstGeom prst="roundRect">
            <a:avLst>
              <a:gd name="adj" fmla="val 10714"/>
            </a:avLst>
          </a:prstGeom>
          <a:solidFill>
            <a:srgbClr val="E9F1ED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8064" y="548640"/>
            <a:ext cx="77724" cy="512064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48640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学习路径与学习闭环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967167" y="548640"/>
            <a:ext cx="3438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6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Learning Loop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7772" y="1175004"/>
            <a:ext cx="5074920" cy="2898613"/>
          </a:xfrm>
          <a:prstGeom prst="roundRect">
            <a:avLst>
              <a:gd name="adj" fmla="val 1577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35" name="Image 0" descr="d:\项目文件夹\aigc课程\赛题10_智绘千里_AIGC知识图谱智能导学系统\S3\演示素材\截图\07_学习路径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064" y="1225296"/>
            <a:ext cx="4974336" cy="2798029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973568" y="1225296"/>
            <a:ext cx="3651199" cy="2798064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93024" y="1389888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先修拓扑排序 · 动态重排推荐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193024" y="1737360"/>
            <a:ext cx="420624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9" name="Shape 36"/>
          <p:cNvSpPr/>
          <p:nvPr/>
        </p:nvSpPr>
        <p:spPr>
          <a:xfrm>
            <a:off x="8193024" y="1965960"/>
            <a:ext cx="41148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0" name="Text 37"/>
          <p:cNvSpPr/>
          <p:nvPr/>
        </p:nvSpPr>
        <p:spPr>
          <a:xfrm>
            <a:off x="8357616" y="190195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以"先修"关系构建 DAG，拓扑排序计算合理学习顺序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193024" y="2606040"/>
            <a:ext cx="41148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2" name="Text 39"/>
          <p:cNvSpPr/>
          <p:nvPr/>
        </p:nvSpPr>
        <p:spPr>
          <a:xfrm>
            <a:off x="8357616" y="254203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结合掌握度、重点程度与测验表现实时重排推荐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193024" y="3246120"/>
            <a:ext cx="41148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4" name="Text 41"/>
          <p:cNvSpPr/>
          <p:nvPr/>
        </p:nvSpPr>
        <p:spPr>
          <a:xfrm>
            <a:off x="8357616" y="3182112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标记"已掌握"即时更新进度，推进下一步学习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2747772" y="4265676"/>
            <a:ext cx="2933090" cy="1693849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46" name="Image 1" descr="d:\项目文件夹\aigc课程\赛题10_智绘千里_AIGC知识图谱智能导学系统\S3\演示素材\截图\08_详细学习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4315968"/>
            <a:ext cx="2832506" cy="1593265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798064" y="5797296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详细学习 · 多模态资料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5744870" y="4265676"/>
            <a:ext cx="2933090" cy="1693849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49" name="Image 2" descr="d:\项目文件夹\aigc课程\赛题10_智绘千里_AIGC知识图谱智能导学系统\S3\演示素材\截图\09_知识小测验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162" y="4315968"/>
            <a:ext cx="2832506" cy="1593265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795162" y="5797296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知识小测验 · 即时反馈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8741969" y="4265676"/>
            <a:ext cx="2933090" cy="1693849"/>
          </a:xfrm>
          <a:prstGeom prst="roundRect">
            <a:avLst>
              <a:gd name="adj" fmla="val 2699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52" name="Image 3" descr="d:\项目文件夹\aigc课程\赛题10_智绘千里_AIGC知识图谱智能导学系统\S3\演示素材\截图\10_学习资源页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261" y="4315968"/>
            <a:ext cx="2832506" cy="159326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792261" y="5797296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相关资源 · AI 推荐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2798064" y="6437376"/>
            <a:ext cx="8826703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5" name="Text 49"/>
          <p:cNvSpPr/>
          <p:nvPr/>
        </p:nvSpPr>
        <p:spPr>
          <a:xfrm>
            <a:off x="2798064" y="64922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6" name="Text 50"/>
          <p:cNvSpPr/>
          <p:nvPr/>
        </p:nvSpPr>
        <p:spPr>
          <a:xfrm>
            <a:off x="10893247" y="6483096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六项技术方法创新，并由量化指标验证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9933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15635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993392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43584" y="1993392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中文知识抽取链路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432304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jieba 精确模式 + 2-gram 兜底，配合大模型结构化抽取与提示词约束，保证专业术语与长名词完整。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3008" y="1847088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0752" y="199339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2E6BA8"/>
          </a:solidFill>
          <a:ln/>
        </p:spPr>
      </p:sp>
      <p:sp>
        <p:nvSpPr>
          <p:cNvPr id="16" name="Text 14"/>
          <p:cNvSpPr/>
          <p:nvPr/>
        </p:nvSpPr>
        <p:spPr>
          <a:xfrm>
            <a:off x="6470752" y="1993392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9664" y="1993392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关系归一与方向修正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89040" y="2432304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将"属于 / 基于 / 服务于 / 承载"等多样表述统一为"包含 / 先修 / 关联"三类，并互换反向边，使层级树正确。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072384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21868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15635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218688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3584" y="3218688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手绘风格图谱渲染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AntV G6 + rough 插件实现手绘渲染，力导向参数（charge -480 / collide radius+38）调优，100+ 节点无大面积重叠。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3008" y="3072384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0752" y="3218688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2E6BA8"/>
          </a:solidFill>
          <a:ln/>
        </p:spPr>
      </p:sp>
      <p:sp>
        <p:nvSpPr>
          <p:cNvPr id="26" name="Text 24"/>
          <p:cNvSpPr/>
          <p:nvPr/>
        </p:nvSpPr>
        <p:spPr>
          <a:xfrm>
            <a:off x="6470752" y="3218688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9664" y="3218688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引用溯源联动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89040" y="3657600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回答标注引用知识点并与图谱节点双向联动，答案可定位、可追溯，避免大模型"看似合理却无出处"。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297680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44398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156352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443984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43584" y="4443984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先修 DAG 实时重排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4882896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拓扑排序给出基线顺序，再综合掌握度、重点程度与测验正确率动态重排，实现个性化导航。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3008" y="4297680"/>
            <a:ext cx="5391760" cy="1060704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0752" y="4443984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2E6BA8"/>
          </a:solidFill>
          <a:ln/>
        </p:spPr>
      </p:sp>
      <p:sp>
        <p:nvSpPr>
          <p:cNvPr id="36" name="Text 34"/>
          <p:cNvSpPr/>
          <p:nvPr/>
        </p:nvSpPr>
        <p:spPr>
          <a:xfrm>
            <a:off x="6470752" y="4443984"/>
            <a:ext cx="3474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09664" y="4443984"/>
            <a:ext cx="447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接口级 + 界面级双隔离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89040" y="4882896"/>
            <a:ext cx="487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后端逐接口声明角色依赖，前端按角色过滤菜单与路由，前后端权限定义一致，6 项权限用例全部通过。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3949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5504688"/>
            <a:ext cx="20286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58368" y="5888736"/>
            <a:ext cx="202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知识抽取精确率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78496" y="5577840"/>
            <a:ext cx="9144" cy="475488"/>
          </a:xfrm>
          <a:prstGeom prst="rect">
            <a:avLst/>
          </a:prstGeom>
          <a:solidFill>
            <a:srgbClr val="C6DAD2"/>
          </a:solidFill>
          <a:ln/>
        </p:spPr>
      </p:sp>
      <p:sp>
        <p:nvSpPr>
          <p:cNvPr id="43" name="Text 41"/>
          <p:cNvSpPr/>
          <p:nvPr/>
        </p:nvSpPr>
        <p:spPr>
          <a:xfrm>
            <a:off x="2869936" y="5504688"/>
            <a:ext cx="20286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ms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2869936" y="5888736"/>
            <a:ext cx="202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图谱加载响应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90064" y="5577840"/>
            <a:ext cx="9144" cy="475488"/>
          </a:xfrm>
          <a:prstGeom prst="rect">
            <a:avLst/>
          </a:prstGeom>
          <a:solidFill>
            <a:srgbClr val="C6DAD2"/>
          </a:solidFill>
          <a:ln/>
        </p:spPr>
      </p:sp>
      <p:sp>
        <p:nvSpPr>
          <p:cNvPr id="46" name="Text 44"/>
          <p:cNvSpPr/>
          <p:nvPr/>
        </p:nvSpPr>
        <p:spPr>
          <a:xfrm>
            <a:off x="5081504" y="5504688"/>
            <a:ext cx="20286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224.8 ms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081504" y="5888736"/>
            <a:ext cx="202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智能问答首响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01632" y="5577840"/>
            <a:ext cx="9144" cy="475488"/>
          </a:xfrm>
          <a:prstGeom prst="rect">
            <a:avLst/>
          </a:prstGeom>
          <a:solidFill>
            <a:srgbClr val="C6DAD2"/>
          </a:solidFill>
          <a:ln/>
        </p:spPr>
      </p:sp>
      <p:sp>
        <p:nvSpPr>
          <p:cNvPr id="49" name="Text 47"/>
          <p:cNvSpPr/>
          <p:nvPr/>
        </p:nvSpPr>
        <p:spPr>
          <a:xfrm>
            <a:off x="7293072" y="5504688"/>
            <a:ext cx="20286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293072" y="5888736"/>
            <a:ext cx="202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权限测试通过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413199" y="5577840"/>
            <a:ext cx="9144" cy="475488"/>
          </a:xfrm>
          <a:prstGeom prst="rect">
            <a:avLst/>
          </a:prstGeom>
          <a:solidFill>
            <a:srgbClr val="C6DAD2"/>
          </a:solidFill>
          <a:ln/>
        </p:spPr>
      </p:sp>
      <p:sp>
        <p:nvSpPr>
          <p:cNvPr id="52" name="Text 50"/>
          <p:cNvSpPr/>
          <p:nvPr/>
        </p:nvSpPr>
        <p:spPr>
          <a:xfrm>
            <a:off x="9504639" y="5504688"/>
            <a:ext cx="202868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14.4×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504639" y="5888736"/>
            <a:ext cx="202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建图效率提升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5" name="Text 53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团队构成与分工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ROLES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人跨专业协作：产品、前端、后端、AI 算法、科研助理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4059936" cy="3968496"/>
          </a:xfrm>
          <a:prstGeom prst="roundRect">
            <a:avLst>
              <a:gd name="adj" fmla="val 1152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10" name="Image 0" descr="d:\项目文件夹\aigc课程\scripts\ppt\media\word\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1680"/>
            <a:ext cx="3694176" cy="27706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882896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团队分工图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6384" y="5175504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由项目总负责人统筹整体进度与资源分配，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团队按专业优势分工协作，覆盖从需求到交付的完整链路。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1847088"/>
            <a:ext cx="668700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847088"/>
            <a:ext cx="68580" cy="713232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15" name="Text 12"/>
          <p:cNvSpPr/>
          <p:nvPr/>
        </p:nvSpPr>
        <p:spPr>
          <a:xfrm>
            <a:off x="5175504" y="190195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项目总负责人 / 产品经理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33488" y="1892808"/>
            <a:ext cx="4071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统筹协调项目全局与资源分配；负责背景调查、可行性分析、业务需求分析与功能设计文档，完成产品原型与功能框架设计。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2670048"/>
            <a:ext cx="668700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37760" y="2670048"/>
            <a:ext cx="68580" cy="713232"/>
          </a:xfrm>
          <a:prstGeom prst="rect">
            <a:avLst/>
          </a:prstGeom>
          <a:solidFill>
            <a:srgbClr val="2E6BA8"/>
          </a:solidFill>
          <a:ln/>
        </p:spPr>
      </p:sp>
      <p:sp>
        <p:nvSpPr>
          <p:cNvPr id="19" name="Text 16"/>
          <p:cNvSpPr/>
          <p:nvPr/>
        </p:nvSpPr>
        <p:spPr>
          <a:xfrm>
            <a:off x="5175504" y="272491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前端开发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333488" y="2715768"/>
            <a:ext cx="4071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负责前端页面开发与图谱可视化交互（AntV G6 2D / 3D 渲染、手绘风格界面），对接后端接口，完成功能联调与界面测试。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3493008"/>
            <a:ext cx="668700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37760" y="3493008"/>
            <a:ext cx="68580" cy="713232"/>
          </a:xfrm>
          <a:prstGeom prst="rect">
            <a:avLst/>
          </a:prstGeom>
          <a:solidFill>
            <a:srgbClr val="6B5BA8"/>
          </a:solidFill>
          <a:ln/>
        </p:spPr>
      </p:sp>
      <p:sp>
        <p:nvSpPr>
          <p:cNvPr id="23" name="Text 20"/>
          <p:cNvSpPr/>
          <p:nvPr/>
        </p:nvSpPr>
        <p:spPr>
          <a:xfrm>
            <a:off x="5175504" y="35478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后端开发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333488" y="3538728"/>
            <a:ext cx="4071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负责后端接口与数据模型设计、JWT 权限体系与 RBAC 隔离，主导文档解析与知识抽取的服务端集成与性能优化。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937760" y="4315968"/>
            <a:ext cx="668700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4315968"/>
            <a:ext cx="68580" cy="713232"/>
          </a:xfrm>
          <a:prstGeom prst="rect">
            <a:avLst/>
          </a:prstGeom>
          <a:solidFill>
            <a:srgbClr val="D9A400"/>
          </a:solidFill>
          <a:ln/>
        </p:spPr>
      </p:sp>
      <p:sp>
        <p:nvSpPr>
          <p:cNvPr id="27" name="Text 24"/>
          <p:cNvSpPr/>
          <p:nvPr/>
        </p:nvSpPr>
        <p:spPr>
          <a:xfrm>
            <a:off x="5175504" y="43708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算法工程师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333488" y="4361688"/>
            <a:ext cx="4071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负责大模型提示词工程、知识抽取链路设计（jieba 分词 + LLM 抽取）、RAG 问答与 AIGC 图谱生成的技术实现与调优。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937760" y="5138928"/>
            <a:ext cx="6687007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5138928"/>
            <a:ext cx="68580" cy="713232"/>
          </a:xfrm>
          <a:prstGeom prst="rect">
            <a:avLst/>
          </a:prstGeom>
          <a:solidFill>
            <a:srgbClr val="B85C50"/>
          </a:solidFill>
          <a:ln/>
        </p:spPr>
      </p:sp>
      <p:sp>
        <p:nvSpPr>
          <p:cNvPr id="31" name="Text 28"/>
          <p:cNvSpPr/>
          <p:nvPr/>
        </p:nvSpPr>
        <p:spPr>
          <a:xfrm>
            <a:off x="5175504" y="51937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科研助理（播音专业）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333488" y="5184648"/>
            <a:ext cx="40718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负责行业调研与资料收集、汇报文案与说明文档撰写、演示视频录制与配音讲解、答辩材料美化与宣讲呈现。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34" name="Text 31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项目进度与里程碑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MILESTONES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 → 设计 → 并行开发 → AI 集成 → 联调测试 → 文档答辩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47088"/>
            <a:ext cx="11057839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pic>
        <p:nvPicPr>
          <p:cNvPr id="10" name="Image 0" descr="d:\项目文件夹\aigc课程\scripts\ppt\media\word\media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11680"/>
            <a:ext cx="10616184" cy="2505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" y="4882896"/>
            <a:ext cx="2682164" cy="1188720"/>
          </a:xfrm>
          <a:prstGeom prst="roundRect">
            <a:avLst>
              <a:gd name="adj" fmla="val 5385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5029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56352"/>
          </a:solidFill>
          <a:ln/>
        </p:spPr>
      </p:sp>
      <p:sp>
        <p:nvSpPr>
          <p:cNvPr id="13" name="Text 10"/>
          <p:cNvSpPr/>
          <p:nvPr/>
        </p:nvSpPr>
        <p:spPr>
          <a:xfrm>
            <a:off x="768096" y="502920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2144" y="5010912"/>
            <a:ext cx="1895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需求与设计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8096" y="5394960"/>
            <a:ext cx="22798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需求分析与原型设计、UI 设计与技术选型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58820" y="4882896"/>
            <a:ext cx="268216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59988" y="5029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56352"/>
          </a:solidFill>
          <a:ln/>
        </p:spPr>
      </p:sp>
      <p:sp>
        <p:nvSpPr>
          <p:cNvPr id="18" name="Text 15"/>
          <p:cNvSpPr/>
          <p:nvPr/>
        </p:nvSpPr>
        <p:spPr>
          <a:xfrm>
            <a:off x="3559988" y="502920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44036" y="5010912"/>
            <a:ext cx="1895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核心开发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559988" y="5394960"/>
            <a:ext cx="22798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前端开发与后端开发并行推进，AI 链路集成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50712" y="4882896"/>
            <a:ext cx="2682164" cy="1188720"/>
          </a:xfrm>
          <a:prstGeom prst="roundRect">
            <a:avLst>
              <a:gd name="adj" fmla="val 5385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1880" y="5029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56352"/>
          </a:solidFill>
          <a:ln/>
        </p:spPr>
      </p:sp>
      <p:sp>
        <p:nvSpPr>
          <p:cNvPr id="23" name="Text 20"/>
          <p:cNvSpPr/>
          <p:nvPr/>
        </p:nvSpPr>
        <p:spPr>
          <a:xfrm>
            <a:off x="6351880" y="502920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35928" y="5010912"/>
            <a:ext cx="1895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测试优化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351880" y="5394960"/>
            <a:ext cx="22798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测试优化与文档撰写，权限验证与整体联调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42603" y="4882896"/>
            <a:ext cx="268216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43771" y="50292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56352"/>
          </a:solidFill>
          <a:ln/>
        </p:spPr>
      </p:sp>
      <p:sp>
        <p:nvSpPr>
          <p:cNvPr id="28" name="Text 25"/>
          <p:cNvSpPr/>
          <p:nvPr/>
        </p:nvSpPr>
        <p:spPr>
          <a:xfrm>
            <a:off x="9143771" y="502920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527819" y="5010912"/>
            <a:ext cx="1895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答辩准备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143771" y="5394960"/>
            <a:ext cx="22798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材料整理、演示视频与答辩宣讲准备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32" name="Text 29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协作机制与工程规范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接口契约先行、分层解耦、权限前后端一致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需求分析与原型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81301" y="1883664"/>
            <a:ext cx="274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55621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5621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0485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设计与技术选型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994" y="1883664"/>
            <a:ext cx="274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4314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4314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99178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前后端并行开发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58688" y="1883664"/>
            <a:ext cx="274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3008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3008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7872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链路集成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47381" y="1883664"/>
            <a:ext cx="274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1701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1701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76565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联调与权限测试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36074" y="1883664"/>
            <a:ext cx="274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10394" y="1883664"/>
            <a:ext cx="1614373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0394" y="1956816"/>
            <a:ext cx="161437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65258" y="2212848"/>
            <a:ext cx="1504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文档与答辩准备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288950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12724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07238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 + 契约先行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341985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先定义接口文档（RESTful / JSON），前后端并行开发，减少联调阻塞。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3008" y="288950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3008" y="312724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38" name="Text 36"/>
          <p:cNvSpPr/>
          <p:nvPr/>
        </p:nvSpPr>
        <p:spPr>
          <a:xfrm>
            <a:off x="6489040" y="307238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分层解耦架构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89040" y="341985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路由 → 业务 → 数据；前端 pages / components / context / middleware / services 分层组织。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435254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" y="459028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53542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全异步中间件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488289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认证、路由守卫等横切逻辑统一以 async/await 实现，避免回调嵌套。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3008" y="435254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459028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46" name="Text 44"/>
          <p:cNvSpPr/>
          <p:nvPr/>
        </p:nvSpPr>
        <p:spPr>
          <a:xfrm>
            <a:off x="6489040" y="453542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权限定义前后端一致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89040" y="488289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同一份角色规则同时约束后端接口与前端菜单路由，杜绝越权与体验割裂。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581558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928" y="605332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599846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双主题与视觉规范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22960" y="634593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教师端绿色系、学生端蓝紫色系，组件与间距遵循统一设计令牌。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33008" y="5815584"/>
            <a:ext cx="539176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3008" y="6053328"/>
            <a:ext cx="54864" cy="822960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54" name="Text 52"/>
          <p:cNvSpPr/>
          <p:nvPr/>
        </p:nvSpPr>
        <p:spPr>
          <a:xfrm>
            <a:off x="6489040" y="5998464"/>
            <a:ext cx="493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多维度测试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89040" y="6345936"/>
            <a:ext cx="491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接口功能、角色权限、知识抽取准确率、系统效率四类测试并行推进。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57" name="Text 55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4A3D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68580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0624"/>
            <a:ext cx="114300" cy="402336"/>
          </a:xfrm>
          <a:prstGeom prst="rect">
            <a:avLst/>
          </a:prstGeom>
          <a:solidFill>
            <a:srgbClr val="156352"/>
          </a:solidFill>
          <a:ln/>
        </p:spPr>
      </p:sp>
      <p:sp>
        <p:nvSpPr>
          <p:cNvPr id="5" name="Shape 3"/>
          <p:cNvSpPr/>
          <p:nvPr/>
        </p:nvSpPr>
        <p:spPr>
          <a:xfrm>
            <a:off x="726948" y="420624"/>
            <a:ext cx="41148" cy="40233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3657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团队介绍与致谢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05256" y="905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40" kern="0" dirty="0">
                <a:solidFill>
                  <a:srgbClr val="8B9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ACKNOWLEDGEMENT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53167" y="274320"/>
            <a:ext cx="1371600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EDE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一支跨专业、优势互补的学生团队，完成从 0 到 1 的完整交付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566928" cy="4114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83664"/>
            <a:ext cx="2145731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3762" y="2066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F1ED"/>
          </a:solidFill>
          <a:ln/>
        </p:spPr>
      </p:sp>
      <p:sp>
        <p:nvSpPr>
          <p:cNvPr id="13" name="Text 11"/>
          <p:cNvSpPr/>
          <p:nvPr/>
        </p:nvSpPr>
        <p:spPr>
          <a:xfrm>
            <a:off x="1383762" y="2066544"/>
            <a:ext cx="5120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" y="2688336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项目总负责人 / 产品经理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3218688"/>
            <a:ext cx="19262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需求洞察 · 原型设计 · 项目管理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94955" y="1883664"/>
            <a:ext cx="2145731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789" y="2066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789" y="2066544"/>
            <a:ext cx="5120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04683" y="2688336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前端开发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04683" y="3218688"/>
            <a:ext cx="19262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/ TypeScript · 图谱可视化 · 交互实现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2982" y="1883664"/>
            <a:ext cx="2145731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39816" y="2066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F1ED"/>
          </a:solidFill>
          <a:ln/>
        </p:spPr>
      </p:sp>
      <p:sp>
        <p:nvSpPr>
          <p:cNvPr id="23" name="Text 21"/>
          <p:cNvSpPr/>
          <p:nvPr/>
        </p:nvSpPr>
        <p:spPr>
          <a:xfrm>
            <a:off x="5839816" y="2066544"/>
            <a:ext cx="5120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32710" y="2688336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后端开发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2710" y="3218688"/>
            <a:ext cx="19262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· 数据建模 · 权限体系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51009" y="1883664"/>
            <a:ext cx="2145731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7843" y="2066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8067843" y="2066544"/>
            <a:ext cx="5120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60737" y="2688336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算法工程师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737" y="3218688"/>
            <a:ext cx="19262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提示词工程 · 知识抽取 · RAG 与 AIGC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479036" y="1883664"/>
            <a:ext cx="2145731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E4E0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95870" y="2066544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9F1ED"/>
          </a:solidFill>
          <a:ln/>
        </p:spPr>
      </p:sp>
      <p:sp>
        <p:nvSpPr>
          <p:cNvPr id="33" name="Text 31"/>
          <p:cNvSpPr/>
          <p:nvPr/>
        </p:nvSpPr>
        <p:spPr>
          <a:xfrm>
            <a:off x="10295870" y="2066544"/>
            <a:ext cx="5120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588764" y="2688336"/>
            <a:ext cx="19262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2A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科研助理（播音专业）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88764" y="3218688"/>
            <a:ext cx="19262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调研文案 · 演示配音 · 答辩宣讲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" y="3986784"/>
            <a:ext cx="11057839" cy="1188720"/>
          </a:xfrm>
          <a:prstGeom prst="roundRect">
            <a:avLst>
              <a:gd name="adj" fmla="val 5385"/>
            </a:avLst>
          </a:prstGeom>
          <a:solidFill>
            <a:srgbClr val="E9F1ED"/>
          </a:solidFill>
          <a:ln w="9525">
            <a:solidFill>
              <a:srgbClr val="C6DA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致谢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77824" y="4498848"/>
            <a:ext cx="420624" cy="36576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77824" y="4608576"/>
            <a:ext cx="1043604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5560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感谢指导老师的悉心指导与团队成员的全力投入。智绘千里希望让课程知识"看得见、走得通、学得会"——以 AIGC 降低建图门槛，以图谱导航学习路径，让每一位学生都能按图索骥、循序进阶。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431536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50" kern="0" dirty="0">
                <a:solidFill>
                  <a:srgbClr val="0E4A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以画笔绘就知识网络 · 以智能导航千里学程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66928" y="6400800"/>
            <a:ext cx="11057839" cy="9144"/>
          </a:xfrm>
          <a:prstGeom prst="rect">
            <a:avLst/>
          </a:prstGeom>
          <a:solidFill>
            <a:srgbClr val="E4E0D6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64556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A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智绘千里 · AIGC 知识图谱智能导学系统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893247" y="6446520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6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智绘千里 · AIGC 知识图谱智能导学系统 · 产品说明</dc:title>
  <dc:subject>PptxGenJS Presentation</dc:subject>
  <dc:creator>智绘千里项目团队</dc:creator>
  <cp:lastModifiedBy>智绘千里项目团队</cp:lastModifiedBy>
  <cp:revision>1</cp:revision>
  <dcterms:created xsi:type="dcterms:W3CDTF">2026-10-08T11:48:39Z</dcterms:created>
  <dcterms:modified xsi:type="dcterms:W3CDTF">2026-10-08T11:48:39Z</dcterms:modified>
</cp:coreProperties>
</file>